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256" r:id="rId5"/>
    <p:sldId id="278" r:id="rId6"/>
    <p:sldId id="280" r:id="rId7"/>
    <p:sldId id="287" r:id="rId8"/>
    <p:sldId id="288" r:id="rId9"/>
    <p:sldId id="289" r:id="rId10"/>
    <p:sldId id="290" r:id="rId11"/>
    <p:sldId id="292" r:id="rId12"/>
    <p:sldId id="291" r:id="rId13"/>
    <p:sldId id="293" r:id="rId14"/>
    <p:sldId id="294" r:id="rId15"/>
    <p:sldId id="295"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8" autoAdjust="0"/>
    <p:restoredTop sz="90655" autoAdjust="0"/>
  </p:normalViewPr>
  <p:slideViewPr>
    <p:cSldViewPr snapToGrid="0">
      <p:cViewPr varScale="1">
        <p:scale>
          <a:sx n="75" d="100"/>
          <a:sy n="75" d="100"/>
        </p:scale>
        <p:origin x="835" y="48"/>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11/18/2025</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11/18/2025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2182522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2066144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886D4-EF30-FEF7-86DB-663A63703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0AB3C6-C1CD-7622-108D-BA62F9047A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F6EB7E-5FEB-BB36-09BC-0768ECDF8A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B9D0BB-A4B0-4137-5B58-EACD0BBAF2DA}"/>
              </a:ext>
            </a:extLst>
          </p:cNvPr>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1714233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101EF-00AA-8749-CD85-B98C14690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806F5-F7BC-D3D8-BC28-5716E32BE0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980A2E-A589-D96A-250B-56B152CE6D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75FF99-41F6-A7E4-58BE-76BC130C9EB5}"/>
              </a:ext>
            </a:extLst>
          </p:cNvPr>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1516302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4211D-236F-D711-AD13-CEA3B0526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40C39-9023-91BF-4FD9-860EF73F1F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B80CB6-027D-7C60-3865-724CC48413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540241-C6DE-A2B7-6C4E-4795CEE9744A}"/>
              </a:ext>
            </a:extLst>
          </p:cNvPr>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4093320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E5004-4A9B-9811-4014-B9B9F11A24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99027C-E4AE-49F0-F793-4092235614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A8C6DA-39C9-1B0C-3279-47D1BB3E73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EDEF18-2604-C6F0-004D-33D6611BAD45}"/>
              </a:ext>
            </a:extLst>
          </p:cNvPr>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14041180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DA1F8-21CA-802B-C9EE-5450FB49BA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B6A26-637D-3DE6-3F0E-598A023478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97EFDF-2C3F-269C-36F1-8A45FAB13B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3E68E5-4CAD-B7CC-DEEB-53D526938757}"/>
              </a:ext>
            </a:extLst>
          </p:cNvPr>
          <p:cNvSpPr>
            <a:spLocks noGrp="1"/>
          </p:cNvSpPr>
          <p:nvPr>
            <p:ph type="sldNum" sz="quarter" idx="5"/>
          </p:nvPr>
        </p:nvSpPr>
        <p:spPr/>
        <p:txBody>
          <a:bodyPr/>
          <a:lstStyle/>
          <a:p>
            <a:fld id="{22289C57-55D7-40A4-A101-E74FAC7A092B}" type="slidenum">
              <a:rPr lang="en-US" smtClean="0"/>
              <a:t>8</a:t>
            </a:fld>
            <a:endParaRPr lang="en-US" dirty="0"/>
          </a:p>
        </p:txBody>
      </p:sp>
    </p:spTree>
    <p:extLst>
      <p:ext uri="{BB962C8B-B14F-4D97-AF65-F5344CB8AC3E}">
        <p14:creationId xmlns:p14="http://schemas.microsoft.com/office/powerpoint/2010/main" val="3310639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B0B91-A66B-1600-3DC7-17EC11667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D088D2-6D85-4B25-36FB-D34D11E530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B312B-31DF-1AB4-5427-71E8A01C01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D6BD81-CA5D-FF34-427D-36B0F84D3459}"/>
              </a:ext>
            </a:extLst>
          </p:cNvPr>
          <p:cNvSpPr>
            <a:spLocks noGrp="1"/>
          </p:cNvSpPr>
          <p:nvPr>
            <p:ph type="sldNum" sz="quarter" idx="5"/>
          </p:nvPr>
        </p:nvSpPr>
        <p:spPr/>
        <p:txBody>
          <a:bodyPr/>
          <a:lstStyle/>
          <a:p>
            <a:fld id="{22289C57-55D7-40A4-A101-E74FAC7A092B}" type="slidenum">
              <a:rPr lang="en-US" smtClean="0"/>
              <a:t>9</a:t>
            </a:fld>
            <a:endParaRPr lang="en-US" dirty="0"/>
          </a:p>
        </p:txBody>
      </p:sp>
    </p:spTree>
    <p:extLst>
      <p:ext uri="{BB962C8B-B14F-4D97-AF65-F5344CB8AC3E}">
        <p14:creationId xmlns:p14="http://schemas.microsoft.com/office/powerpoint/2010/main" val="1459536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2D210-B45B-C352-3A94-06C8612CF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EC5066-6BE9-60CA-72E5-7B1DF40693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6973A-8873-E1BB-B944-1D515F8A6F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3CE111-83D5-77AE-AB19-F93C77E4BCAB}"/>
              </a:ext>
            </a:extLst>
          </p:cNvPr>
          <p:cNvSpPr>
            <a:spLocks noGrp="1"/>
          </p:cNvSpPr>
          <p:nvPr>
            <p:ph type="sldNum" sz="quarter" idx="5"/>
          </p:nvPr>
        </p:nvSpPr>
        <p:spPr/>
        <p:txBody>
          <a:bodyPr/>
          <a:lstStyle/>
          <a:p>
            <a:fld id="{22289C57-55D7-40A4-A101-E74FAC7A092B}" type="slidenum">
              <a:rPr lang="en-US" smtClean="0"/>
              <a:t>10</a:t>
            </a:fld>
            <a:endParaRPr lang="en-US" dirty="0"/>
          </a:p>
        </p:txBody>
      </p:sp>
    </p:spTree>
    <p:extLst>
      <p:ext uri="{BB962C8B-B14F-4D97-AF65-F5344CB8AC3E}">
        <p14:creationId xmlns:p14="http://schemas.microsoft.com/office/powerpoint/2010/main" val="1059467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AD0C5-CD5B-85B9-320D-FC1D9BCC2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5417D8-9480-B54F-EA86-3D5C60B30D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785EB4-C03A-6195-83F5-407B9BDDF1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C99393-1EE8-DE55-BBD3-2FA4A52BE7D4}"/>
              </a:ext>
            </a:extLst>
          </p:cNvPr>
          <p:cNvSpPr>
            <a:spLocks noGrp="1"/>
          </p:cNvSpPr>
          <p:nvPr>
            <p:ph type="sldNum" sz="quarter" idx="5"/>
          </p:nvPr>
        </p:nvSpPr>
        <p:spPr/>
        <p:txBody>
          <a:bodyPr/>
          <a:lstStyle/>
          <a:p>
            <a:fld id="{22289C57-55D7-40A4-A101-E74FAC7A092B}" type="slidenum">
              <a:rPr lang="en-US" smtClean="0"/>
              <a:t>11</a:t>
            </a:fld>
            <a:endParaRPr lang="en-US" dirty="0"/>
          </a:p>
        </p:txBody>
      </p:sp>
    </p:spTree>
    <p:extLst>
      <p:ext uri="{BB962C8B-B14F-4D97-AF65-F5344CB8AC3E}">
        <p14:creationId xmlns:p14="http://schemas.microsoft.com/office/powerpoint/2010/main" val="2089605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549EA-12FF-42F5-0138-A893F7C26C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DAAFCF-6392-1DFE-634D-C8DF5A5BC2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BCA0C-3264-274F-CD7B-C6A386AC24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37737E-1709-8830-56C9-F463723F58EA}"/>
              </a:ext>
            </a:extLst>
          </p:cNvPr>
          <p:cNvSpPr>
            <a:spLocks noGrp="1"/>
          </p:cNvSpPr>
          <p:nvPr>
            <p:ph type="sldNum" sz="quarter" idx="5"/>
          </p:nvPr>
        </p:nvSpPr>
        <p:spPr/>
        <p:txBody>
          <a:bodyPr/>
          <a:lstStyle/>
          <a:p>
            <a:fld id="{22289C57-55D7-40A4-A101-E74FAC7A092B}" type="slidenum">
              <a:rPr lang="en-US" smtClean="0"/>
              <a:t>12</a:t>
            </a:fld>
            <a:endParaRPr lang="en-US" dirty="0"/>
          </a:p>
        </p:txBody>
      </p:sp>
    </p:spTree>
    <p:extLst>
      <p:ext uri="{BB962C8B-B14F-4D97-AF65-F5344CB8AC3E}">
        <p14:creationId xmlns:p14="http://schemas.microsoft.com/office/powerpoint/2010/main" val="3103398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13</a:t>
            </a:fld>
            <a:endParaRPr lang="en-US" dirty="0"/>
          </a:p>
        </p:txBody>
      </p:sp>
    </p:spTree>
    <p:extLst>
      <p:ext uri="{BB962C8B-B14F-4D97-AF65-F5344CB8AC3E}">
        <p14:creationId xmlns:p14="http://schemas.microsoft.com/office/powerpoint/2010/main" val="7026838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6441918" y="3329790"/>
            <a:ext cx="4941771" cy="3200400"/>
          </a:xfrm>
        </p:spPr>
        <p:txBody>
          <a:bodyPr anchor="ctr"/>
          <a:lstStyle/>
          <a:p>
            <a:r>
              <a:rPr lang="en-US" dirty="0"/>
              <a:t>PROG6212 POE PART3</a:t>
            </a:r>
            <a:br>
              <a:rPr lang="en-US" dirty="0"/>
            </a:br>
            <a:r>
              <a:rPr lang="en-US" dirty="0"/>
              <a:t>Tapiwa Sango</a:t>
            </a:r>
            <a:br>
              <a:rPr lang="en-US" dirty="0"/>
            </a:br>
            <a:r>
              <a:rPr lang="en-US" dirty="0"/>
              <a:t>ST10276025</a:t>
            </a: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DBD1-DB29-D44F-FD5A-3071BB37EF37}"/>
              </a:ext>
            </a:extLst>
          </p:cNvPr>
          <p:cNvSpPr>
            <a:spLocks noGrp="1"/>
          </p:cNvSpPr>
          <p:nvPr>
            <p:ph type="ctrTitle"/>
          </p:nvPr>
        </p:nvSpPr>
        <p:spPr>
          <a:xfrm>
            <a:off x="6756400" y="778023"/>
            <a:ext cx="4886960" cy="542052"/>
          </a:xfrm>
        </p:spPr>
        <p:txBody>
          <a:bodyPr/>
          <a:lstStyle/>
          <a:p>
            <a:r>
              <a:rPr lang="en-US" dirty="0"/>
              <a:t>Lecturer Feedback</a:t>
            </a:r>
          </a:p>
        </p:txBody>
      </p:sp>
      <p:sp>
        <p:nvSpPr>
          <p:cNvPr id="4" name="TextBox 3">
            <a:extLst>
              <a:ext uri="{FF2B5EF4-FFF2-40B4-BE49-F238E27FC236}">
                <a16:creationId xmlns:a16="http://schemas.microsoft.com/office/drawing/2014/main" id="{F0C688DA-40EF-2822-4BA7-408ACAEDA1A9}"/>
              </a:ext>
            </a:extLst>
          </p:cNvPr>
          <p:cNvSpPr txBox="1"/>
          <p:nvPr/>
        </p:nvSpPr>
        <p:spPr>
          <a:xfrm>
            <a:off x="6756400" y="1320075"/>
            <a:ext cx="4886960" cy="1477328"/>
          </a:xfrm>
          <a:prstGeom prst="rect">
            <a:avLst/>
          </a:prstGeom>
          <a:noFill/>
        </p:spPr>
        <p:txBody>
          <a:bodyPr wrap="square">
            <a:spAutoFit/>
          </a:bodyPr>
          <a:lstStyle/>
          <a:p>
            <a:r>
              <a:rPr lang="en-US" dirty="0"/>
              <a:t>“Fix the approval flows, a claim should be approved by both coordinator and manager, if coordinator approves, manager can approve/reject then the claim can changes status on the lecturer view”</a:t>
            </a:r>
          </a:p>
        </p:txBody>
      </p:sp>
      <p:pic>
        <p:nvPicPr>
          <p:cNvPr id="6" name="Picture 5">
            <a:extLst>
              <a:ext uri="{FF2B5EF4-FFF2-40B4-BE49-F238E27FC236}">
                <a16:creationId xmlns:a16="http://schemas.microsoft.com/office/drawing/2014/main" id="{5CD8F16B-8382-F0FE-D703-FDE26130A213}"/>
              </a:ext>
            </a:extLst>
          </p:cNvPr>
          <p:cNvPicPr>
            <a:picLocks noChangeAspect="1"/>
          </p:cNvPicPr>
          <p:nvPr/>
        </p:nvPicPr>
        <p:blipFill>
          <a:blip r:embed="rId3"/>
          <a:stretch>
            <a:fillRect/>
          </a:stretch>
        </p:blipFill>
        <p:spPr>
          <a:xfrm>
            <a:off x="958523" y="514313"/>
            <a:ext cx="4686954" cy="5077534"/>
          </a:xfrm>
          <a:prstGeom prst="rect">
            <a:avLst/>
          </a:prstGeom>
        </p:spPr>
      </p:pic>
      <p:sp>
        <p:nvSpPr>
          <p:cNvPr id="7" name="TextBox 6">
            <a:extLst>
              <a:ext uri="{FF2B5EF4-FFF2-40B4-BE49-F238E27FC236}">
                <a16:creationId xmlns:a16="http://schemas.microsoft.com/office/drawing/2014/main" id="{EC69B9C9-ACEC-C8E5-9631-F0BCBEBAAE52}"/>
              </a:ext>
            </a:extLst>
          </p:cNvPr>
          <p:cNvSpPr txBox="1"/>
          <p:nvPr/>
        </p:nvSpPr>
        <p:spPr>
          <a:xfrm>
            <a:off x="6756400" y="2797403"/>
            <a:ext cx="4886960" cy="4247317"/>
          </a:xfrm>
          <a:prstGeom prst="rect">
            <a:avLst/>
          </a:prstGeom>
          <a:noFill/>
        </p:spPr>
        <p:txBody>
          <a:bodyPr wrap="square">
            <a:spAutoFit/>
          </a:bodyPr>
          <a:lstStyle/>
          <a:p>
            <a:r>
              <a:rPr lang="en-US" dirty="0"/>
              <a:t>Both Manager and Coordinator are able to approve and reject claims. To the left is the shows the </a:t>
            </a:r>
            <a:r>
              <a:rPr lang="en-US" b="1" dirty="0" err="1"/>
              <a:t>ApproveClaim</a:t>
            </a:r>
            <a:r>
              <a:rPr lang="en-US" b="1" dirty="0"/>
              <a:t>() </a:t>
            </a:r>
            <a:r>
              <a:rPr lang="en-US" dirty="0"/>
              <a:t>and </a:t>
            </a:r>
            <a:r>
              <a:rPr lang="en-US" b="1" dirty="0" err="1"/>
              <a:t>RejectClaim</a:t>
            </a:r>
            <a:r>
              <a:rPr lang="en-US" b="1" dirty="0"/>
              <a:t>() </a:t>
            </a:r>
            <a:r>
              <a:rPr lang="en-US" dirty="0"/>
              <a:t>which:</a:t>
            </a:r>
          </a:p>
          <a:p>
            <a:pPr marL="285750" indent="-285750">
              <a:buFont typeface="Arial" panose="020B0604020202020204" pitchFamily="34" charset="0"/>
              <a:buChar char="•"/>
            </a:pPr>
            <a:r>
              <a:rPr lang="en-US" dirty="0"/>
              <a:t>Ensures user role is valid.</a:t>
            </a:r>
          </a:p>
          <a:p>
            <a:pPr marL="285750" indent="-285750">
              <a:buFont typeface="Arial" panose="020B0604020202020204" pitchFamily="34" charset="0"/>
              <a:buChar char="•"/>
            </a:pPr>
            <a:r>
              <a:rPr lang="en-US" dirty="0"/>
              <a:t>Finds the claim by ID.</a:t>
            </a:r>
          </a:p>
          <a:p>
            <a:pPr marL="285750" indent="-285750">
              <a:buFont typeface="Arial" panose="020B0604020202020204" pitchFamily="34" charset="0"/>
              <a:buChar char="•"/>
            </a:pPr>
            <a:r>
              <a:rPr lang="en-US" dirty="0"/>
              <a:t>Calls </a:t>
            </a:r>
            <a:r>
              <a:rPr lang="en-US" dirty="0" err="1"/>
              <a:t>UpdateStatus</a:t>
            </a:r>
            <a:r>
              <a:rPr lang="en-US" dirty="0"/>
              <a:t>(Approved/Rejected, comments).</a:t>
            </a:r>
          </a:p>
          <a:p>
            <a:pPr marL="285750" indent="-285750">
              <a:buFont typeface="Arial" panose="020B0604020202020204" pitchFamily="34" charset="0"/>
              <a:buChar char="•"/>
            </a:pPr>
            <a:r>
              <a:rPr lang="en-US" dirty="0"/>
              <a:t>Saves changes.</a:t>
            </a:r>
          </a:p>
          <a:p>
            <a:pPr marL="285750" indent="-285750">
              <a:buFont typeface="Arial" panose="020B0604020202020204" pitchFamily="34" charset="0"/>
              <a:buChar char="•"/>
            </a:pPr>
            <a:r>
              <a:rPr lang="en-US" dirty="0"/>
              <a:t>Shows a success message.</a:t>
            </a:r>
          </a:p>
          <a:p>
            <a:r>
              <a:rPr lang="en-US" b="1" dirty="0"/>
              <a:t>Purpose:</a:t>
            </a:r>
            <a:r>
              <a:rPr lang="en-US" dirty="0"/>
              <a:t> Allows manager and coordinator to approve and reject the claim</a:t>
            </a:r>
            <a:r>
              <a:rPr lang="en-US" b="1" dirty="0"/>
              <a:t>.[Note that the </a:t>
            </a:r>
            <a:r>
              <a:rPr lang="en-US" b="1" dirty="0" err="1"/>
              <a:t>RejectClaim</a:t>
            </a:r>
            <a:r>
              <a:rPr lang="en-US" b="1" dirty="0"/>
              <a:t>()has the same flow the </a:t>
            </a:r>
            <a:r>
              <a:rPr lang="en-US" b="1" dirty="0" err="1"/>
              <a:t>ApproveClaim</a:t>
            </a:r>
            <a:r>
              <a:rPr lang="en-US" b="1" dirty="0"/>
              <a:t>()]</a:t>
            </a:r>
          </a:p>
          <a:p>
            <a:endParaRPr lang="en-US" dirty="0"/>
          </a:p>
        </p:txBody>
      </p:sp>
    </p:spTree>
    <p:extLst>
      <p:ext uri="{BB962C8B-B14F-4D97-AF65-F5344CB8AC3E}">
        <p14:creationId xmlns:p14="http://schemas.microsoft.com/office/powerpoint/2010/main" val="608796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C97BE-403B-122E-90D1-2788978A0B6F}"/>
              </a:ext>
            </a:extLst>
          </p:cNvPr>
          <p:cNvSpPr>
            <a:spLocks noGrp="1"/>
          </p:cNvSpPr>
          <p:nvPr>
            <p:ph type="ctrTitle"/>
          </p:nvPr>
        </p:nvSpPr>
        <p:spPr>
          <a:xfrm>
            <a:off x="9045627" y="457200"/>
            <a:ext cx="3064858" cy="1956390"/>
          </a:xfrm>
        </p:spPr>
        <p:txBody>
          <a:bodyPr/>
          <a:lstStyle/>
          <a:p>
            <a:r>
              <a:rPr lang="en-US" sz="2400" dirty="0"/>
              <a:t>Manager Functionality for Rejecting and approving Claims</a:t>
            </a:r>
          </a:p>
        </p:txBody>
      </p:sp>
      <p:pic>
        <p:nvPicPr>
          <p:cNvPr id="4" name="Picture 3">
            <a:extLst>
              <a:ext uri="{FF2B5EF4-FFF2-40B4-BE49-F238E27FC236}">
                <a16:creationId xmlns:a16="http://schemas.microsoft.com/office/drawing/2014/main" id="{F469BC66-3D64-6E0C-5653-3AD7A563385C}"/>
              </a:ext>
            </a:extLst>
          </p:cNvPr>
          <p:cNvPicPr>
            <a:picLocks noChangeAspect="1"/>
          </p:cNvPicPr>
          <p:nvPr/>
        </p:nvPicPr>
        <p:blipFill>
          <a:blip r:embed="rId3"/>
          <a:stretch>
            <a:fillRect/>
          </a:stretch>
        </p:blipFill>
        <p:spPr>
          <a:xfrm>
            <a:off x="0" y="0"/>
            <a:ext cx="9045628" cy="6857999"/>
          </a:xfrm>
          <a:prstGeom prst="rect">
            <a:avLst/>
          </a:prstGeom>
        </p:spPr>
      </p:pic>
    </p:spTree>
    <p:extLst>
      <p:ext uri="{BB962C8B-B14F-4D97-AF65-F5344CB8AC3E}">
        <p14:creationId xmlns:p14="http://schemas.microsoft.com/office/powerpoint/2010/main" val="334696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58535-0B4F-997B-D050-6A486A315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3ABC2-474D-AA95-F3B6-0F3E5FC347BD}"/>
              </a:ext>
            </a:extLst>
          </p:cNvPr>
          <p:cNvSpPr>
            <a:spLocks noGrp="1"/>
          </p:cNvSpPr>
          <p:nvPr>
            <p:ph type="ctrTitle"/>
          </p:nvPr>
        </p:nvSpPr>
        <p:spPr>
          <a:xfrm>
            <a:off x="9045627" y="457200"/>
            <a:ext cx="3064858" cy="1956390"/>
          </a:xfrm>
        </p:spPr>
        <p:txBody>
          <a:bodyPr/>
          <a:lstStyle/>
          <a:p>
            <a:r>
              <a:rPr lang="en-US" sz="2400" dirty="0"/>
              <a:t>Coordinator Functionality for Rejecting and approving Claims</a:t>
            </a:r>
          </a:p>
        </p:txBody>
      </p:sp>
      <p:pic>
        <p:nvPicPr>
          <p:cNvPr id="5" name="Picture 4">
            <a:extLst>
              <a:ext uri="{FF2B5EF4-FFF2-40B4-BE49-F238E27FC236}">
                <a16:creationId xmlns:a16="http://schemas.microsoft.com/office/drawing/2014/main" id="{78CF1D69-EC6F-351F-ECEA-39BC8FB2CF64}"/>
              </a:ext>
            </a:extLst>
          </p:cNvPr>
          <p:cNvPicPr>
            <a:picLocks noChangeAspect="1"/>
          </p:cNvPicPr>
          <p:nvPr/>
        </p:nvPicPr>
        <p:blipFill>
          <a:blip r:embed="rId3"/>
          <a:stretch>
            <a:fillRect/>
          </a:stretch>
        </p:blipFill>
        <p:spPr>
          <a:xfrm>
            <a:off x="0" y="1390"/>
            <a:ext cx="9045627" cy="6855220"/>
          </a:xfrm>
          <a:prstGeom prst="rect">
            <a:avLst/>
          </a:prstGeom>
        </p:spPr>
      </p:pic>
    </p:spTree>
    <p:extLst>
      <p:ext uri="{BB962C8B-B14F-4D97-AF65-F5344CB8AC3E}">
        <p14:creationId xmlns:p14="http://schemas.microsoft.com/office/powerpoint/2010/main" val="4155304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7DA10-1DC5-5882-038B-883C2A1F64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632984-8EE5-6491-6A79-FCC7FAE90936}"/>
              </a:ext>
            </a:extLst>
          </p:cNvPr>
          <p:cNvSpPr>
            <a:spLocks noGrp="1"/>
          </p:cNvSpPr>
          <p:nvPr>
            <p:ph type="ctrTitle"/>
          </p:nvPr>
        </p:nvSpPr>
        <p:spPr>
          <a:xfrm>
            <a:off x="6837680" y="1695270"/>
            <a:ext cx="4886960" cy="542052"/>
          </a:xfrm>
        </p:spPr>
        <p:txBody>
          <a:bodyPr/>
          <a:lstStyle/>
          <a:p>
            <a:r>
              <a:rPr lang="en-US" dirty="0"/>
              <a:t>Part 3 Additions</a:t>
            </a:r>
          </a:p>
        </p:txBody>
      </p:sp>
      <p:sp>
        <p:nvSpPr>
          <p:cNvPr id="4" name="TextBox 3">
            <a:extLst>
              <a:ext uri="{FF2B5EF4-FFF2-40B4-BE49-F238E27FC236}">
                <a16:creationId xmlns:a16="http://schemas.microsoft.com/office/drawing/2014/main" id="{D469A75C-C184-906C-B6F2-C075B7313D56}"/>
              </a:ext>
            </a:extLst>
          </p:cNvPr>
          <p:cNvSpPr txBox="1"/>
          <p:nvPr/>
        </p:nvSpPr>
        <p:spPr>
          <a:xfrm>
            <a:off x="6374811" y="2143035"/>
            <a:ext cx="4886960" cy="369332"/>
          </a:xfrm>
          <a:prstGeom prst="rect">
            <a:avLst/>
          </a:prstGeom>
          <a:noFill/>
        </p:spPr>
        <p:txBody>
          <a:bodyPr wrap="square">
            <a:spAutoFit/>
          </a:bodyPr>
          <a:lstStyle/>
          <a:p>
            <a:pPr algn="ctr"/>
            <a:r>
              <a:rPr lang="en-US" dirty="0"/>
              <a:t>New role added, HR as “super user”.</a:t>
            </a:r>
          </a:p>
        </p:txBody>
      </p:sp>
      <p:pic>
        <p:nvPicPr>
          <p:cNvPr id="5" name="Picture 4">
            <a:extLst>
              <a:ext uri="{FF2B5EF4-FFF2-40B4-BE49-F238E27FC236}">
                <a16:creationId xmlns:a16="http://schemas.microsoft.com/office/drawing/2014/main" id="{991F7064-829D-EC86-77E9-6384336EBCDF}"/>
              </a:ext>
            </a:extLst>
          </p:cNvPr>
          <p:cNvPicPr>
            <a:picLocks noChangeAspect="1"/>
          </p:cNvPicPr>
          <p:nvPr/>
        </p:nvPicPr>
        <p:blipFill>
          <a:blip r:embed="rId3"/>
          <a:stretch>
            <a:fillRect/>
          </a:stretch>
        </p:blipFill>
        <p:spPr>
          <a:xfrm>
            <a:off x="1163909" y="1297006"/>
            <a:ext cx="5210902" cy="3000794"/>
          </a:xfrm>
          <a:prstGeom prst="rect">
            <a:avLst/>
          </a:prstGeom>
        </p:spPr>
      </p:pic>
    </p:spTree>
    <p:extLst>
      <p:ext uri="{BB962C8B-B14F-4D97-AF65-F5344CB8AC3E}">
        <p14:creationId xmlns:p14="http://schemas.microsoft.com/office/powerpoint/2010/main" val="445310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9FE6F-9849-FA25-E9DF-9D551AC8D2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0D6DF3-DCE4-B879-4B07-0ECFCED342C9}"/>
              </a:ext>
            </a:extLst>
          </p:cNvPr>
          <p:cNvSpPr>
            <a:spLocks noGrp="1"/>
          </p:cNvSpPr>
          <p:nvPr>
            <p:ph type="title"/>
          </p:nvPr>
        </p:nvSpPr>
        <p:spPr>
          <a:xfrm>
            <a:off x="230614" y="668655"/>
            <a:ext cx="2895600" cy="943928"/>
          </a:xfrm>
        </p:spPr>
        <p:txBody>
          <a:bodyPr/>
          <a:lstStyle/>
          <a:p>
            <a:r>
              <a:rPr lang="en-US" dirty="0"/>
              <a:t>Creation of User VIA HR</a:t>
            </a:r>
          </a:p>
        </p:txBody>
      </p:sp>
      <p:sp>
        <p:nvSpPr>
          <p:cNvPr id="5" name="Slide Number Placeholder 5">
            <a:extLst>
              <a:ext uri="{FF2B5EF4-FFF2-40B4-BE49-F238E27FC236}">
                <a16:creationId xmlns:a16="http://schemas.microsoft.com/office/drawing/2014/main" id="{5DE08126-74BC-DF82-6D16-F9A61207E0EC}"/>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6</a:t>
            </a:fld>
            <a:endParaRPr lang="en-US" dirty="0"/>
          </a:p>
        </p:txBody>
      </p:sp>
      <p:pic>
        <p:nvPicPr>
          <p:cNvPr id="6" name="Picture 5">
            <a:extLst>
              <a:ext uri="{FF2B5EF4-FFF2-40B4-BE49-F238E27FC236}">
                <a16:creationId xmlns:a16="http://schemas.microsoft.com/office/drawing/2014/main" id="{E4FA0CA7-3079-0819-1ECE-FFCE32FFB8D1}"/>
              </a:ext>
            </a:extLst>
          </p:cNvPr>
          <p:cNvPicPr>
            <a:picLocks noChangeAspect="1"/>
          </p:cNvPicPr>
          <p:nvPr/>
        </p:nvPicPr>
        <p:blipFill>
          <a:blip r:embed="rId3"/>
          <a:stretch>
            <a:fillRect/>
          </a:stretch>
        </p:blipFill>
        <p:spPr>
          <a:xfrm>
            <a:off x="4416533" y="280113"/>
            <a:ext cx="7544853" cy="6258798"/>
          </a:xfrm>
          <a:prstGeom prst="rect">
            <a:avLst/>
          </a:prstGeom>
        </p:spPr>
      </p:pic>
      <p:sp>
        <p:nvSpPr>
          <p:cNvPr id="18" name="TextBox 17">
            <a:extLst>
              <a:ext uri="{FF2B5EF4-FFF2-40B4-BE49-F238E27FC236}">
                <a16:creationId xmlns:a16="http://schemas.microsoft.com/office/drawing/2014/main" id="{8421BEAA-2FA7-1B04-F746-E6882CDCADF2}"/>
              </a:ext>
            </a:extLst>
          </p:cNvPr>
          <p:cNvSpPr txBox="1"/>
          <p:nvPr/>
        </p:nvSpPr>
        <p:spPr>
          <a:xfrm>
            <a:off x="125839" y="1612583"/>
            <a:ext cx="4474736" cy="4801314"/>
          </a:xfrm>
          <a:prstGeom prst="rect">
            <a:avLst/>
          </a:prstGeom>
          <a:noFill/>
        </p:spPr>
        <p:txBody>
          <a:bodyPr wrap="square">
            <a:spAutoFit/>
          </a:bodyPr>
          <a:lstStyle/>
          <a:p>
            <a:r>
              <a:rPr lang="en-US" b="1" dirty="0" err="1">
                <a:solidFill>
                  <a:schemeClr val="bg1"/>
                </a:solidFill>
              </a:rPr>
              <a:t>CreateUser</a:t>
            </a:r>
            <a:r>
              <a:rPr lang="en-US" b="1" dirty="0">
                <a:solidFill>
                  <a:schemeClr val="bg1"/>
                </a:solidFill>
              </a:rPr>
              <a:t> (GET):</a:t>
            </a:r>
          </a:p>
          <a:p>
            <a:r>
              <a:rPr lang="en-US" dirty="0">
                <a:solidFill>
                  <a:schemeClr val="bg1"/>
                </a:solidFill>
              </a:rPr>
              <a:t>Displays the create-user form.</a:t>
            </a:r>
          </a:p>
          <a:p>
            <a:pPr marL="285750" indent="-285750">
              <a:buFont typeface="Arial" panose="020B0604020202020204" pitchFamily="34" charset="0"/>
              <a:buChar char="•"/>
            </a:pPr>
            <a:r>
              <a:rPr lang="en-US" dirty="0">
                <a:solidFill>
                  <a:schemeClr val="bg1"/>
                </a:solidFill>
              </a:rPr>
              <a:t>Only HR can access</a:t>
            </a:r>
          </a:p>
          <a:p>
            <a:pPr marL="285750" indent="-285750">
              <a:buFont typeface="Arial" panose="020B0604020202020204" pitchFamily="34" charset="0"/>
              <a:buChar char="•"/>
            </a:pPr>
            <a:r>
              <a:rPr lang="en-US" dirty="0">
                <a:solidFill>
                  <a:schemeClr val="bg1"/>
                </a:solidFill>
              </a:rPr>
              <a:t>Returns an empty </a:t>
            </a:r>
            <a:r>
              <a:rPr lang="en-US" dirty="0" err="1">
                <a:solidFill>
                  <a:schemeClr val="bg1"/>
                </a:solidFill>
              </a:rPr>
              <a:t>UserManagementViewModel</a:t>
            </a:r>
            <a:endParaRPr lang="en-US" dirty="0">
              <a:solidFill>
                <a:schemeClr val="bg1"/>
              </a:solidFill>
            </a:endParaRPr>
          </a:p>
          <a:p>
            <a:endParaRPr lang="en-US" dirty="0">
              <a:solidFill>
                <a:schemeClr val="bg1"/>
              </a:solidFill>
            </a:endParaRPr>
          </a:p>
          <a:p>
            <a:r>
              <a:rPr lang="en-US" b="1" dirty="0" err="1">
                <a:solidFill>
                  <a:schemeClr val="bg1"/>
                </a:solidFill>
              </a:rPr>
              <a:t>CreateUser</a:t>
            </a:r>
            <a:r>
              <a:rPr lang="en-US" b="1" dirty="0">
                <a:solidFill>
                  <a:schemeClr val="bg1"/>
                </a:solidFill>
              </a:rPr>
              <a:t> (POST):</a:t>
            </a:r>
          </a:p>
          <a:p>
            <a:r>
              <a:rPr lang="en-US" dirty="0">
                <a:solidFill>
                  <a:schemeClr val="bg1"/>
                </a:solidFill>
              </a:rPr>
              <a:t>Handles the creation of a new user.</a:t>
            </a:r>
          </a:p>
          <a:p>
            <a:pPr marL="285750" indent="-285750">
              <a:buFont typeface="Arial" panose="020B0604020202020204" pitchFamily="34" charset="0"/>
              <a:buChar char="•"/>
            </a:pPr>
            <a:r>
              <a:rPr lang="en-US" dirty="0">
                <a:solidFill>
                  <a:schemeClr val="bg1"/>
                </a:solidFill>
              </a:rPr>
              <a:t>Validates input</a:t>
            </a:r>
          </a:p>
          <a:p>
            <a:pPr marL="285750" indent="-285750">
              <a:buFont typeface="Arial" panose="020B0604020202020204" pitchFamily="34" charset="0"/>
              <a:buChar char="•"/>
            </a:pPr>
            <a:r>
              <a:rPr lang="en-US" dirty="0">
                <a:solidFill>
                  <a:schemeClr val="bg1"/>
                </a:solidFill>
              </a:rPr>
              <a:t>Checks if email already exists</a:t>
            </a:r>
          </a:p>
          <a:p>
            <a:pPr marL="285750" indent="-285750">
              <a:buFont typeface="Arial" panose="020B0604020202020204" pitchFamily="34" charset="0"/>
              <a:buChar char="•"/>
            </a:pPr>
            <a:r>
              <a:rPr lang="en-US" dirty="0">
                <a:solidFill>
                  <a:schemeClr val="bg1"/>
                </a:solidFill>
              </a:rPr>
              <a:t>Creates new user with: Name, Email, Password, Hourly rate, </a:t>
            </a:r>
            <a:r>
              <a:rPr lang="fr-FR" dirty="0" err="1">
                <a:solidFill>
                  <a:schemeClr val="bg1"/>
                </a:solidFill>
              </a:rPr>
              <a:t>Role</a:t>
            </a:r>
            <a:r>
              <a:rPr lang="fr-FR" dirty="0">
                <a:solidFill>
                  <a:schemeClr val="bg1"/>
                </a:solidFill>
              </a:rPr>
              <a:t> (</a:t>
            </a:r>
            <a:r>
              <a:rPr lang="fr-FR" dirty="0" err="1">
                <a:solidFill>
                  <a:schemeClr val="bg1"/>
                </a:solidFill>
              </a:rPr>
              <a:t>Lecturer</a:t>
            </a:r>
            <a:r>
              <a:rPr lang="fr-FR" dirty="0">
                <a:solidFill>
                  <a:schemeClr val="bg1"/>
                </a:solidFill>
              </a:rPr>
              <a:t>, HR, Manager, etc.)</a:t>
            </a:r>
            <a:r>
              <a:rPr lang="en-US" dirty="0">
                <a:solidFill>
                  <a:schemeClr val="bg1"/>
                </a:solidFill>
              </a:rPr>
              <a:t> &amp; Active/Inactive status</a:t>
            </a:r>
          </a:p>
          <a:p>
            <a:pPr marL="285750" indent="-285750">
              <a:buFont typeface="Arial" panose="020B0604020202020204" pitchFamily="34" charset="0"/>
              <a:buChar char="•"/>
            </a:pPr>
            <a:r>
              <a:rPr lang="en-US" dirty="0">
                <a:solidFill>
                  <a:schemeClr val="bg1"/>
                </a:solidFill>
              </a:rPr>
              <a:t>Saves to database</a:t>
            </a:r>
          </a:p>
          <a:p>
            <a:pPr marL="285750" indent="-285750">
              <a:buFont typeface="Arial" panose="020B0604020202020204" pitchFamily="34" charset="0"/>
              <a:buChar char="•"/>
            </a:pPr>
            <a:r>
              <a:rPr lang="en-US" dirty="0">
                <a:solidFill>
                  <a:schemeClr val="bg1"/>
                </a:solidFill>
              </a:rPr>
              <a:t>Shows success message using </a:t>
            </a:r>
            <a:r>
              <a:rPr lang="en-US" dirty="0" err="1">
                <a:solidFill>
                  <a:schemeClr val="bg1"/>
                </a:solidFill>
              </a:rPr>
              <a:t>TempData</a:t>
            </a:r>
            <a:endParaRPr lang="en-US" dirty="0">
              <a:solidFill>
                <a:schemeClr val="bg1"/>
              </a:solidFill>
            </a:endParaRPr>
          </a:p>
        </p:txBody>
      </p:sp>
    </p:spTree>
    <p:extLst>
      <p:ext uri="{BB962C8B-B14F-4D97-AF65-F5344CB8AC3E}">
        <p14:creationId xmlns:p14="http://schemas.microsoft.com/office/powerpoint/2010/main" val="3051200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09829-20D5-0B06-DD10-0C77AFF312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F6FAC7-392D-053B-C7C3-57AD4667C020}"/>
              </a:ext>
            </a:extLst>
          </p:cNvPr>
          <p:cNvSpPr>
            <a:spLocks noGrp="1"/>
          </p:cNvSpPr>
          <p:nvPr>
            <p:ph type="title"/>
          </p:nvPr>
        </p:nvSpPr>
        <p:spPr>
          <a:xfrm>
            <a:off x="230614" y="668655"/>
            <a:ext cx="2895600" cy="943928"/>
          </a:xfrm>
        </p:spPr>
        <p:txBody>
          <a:bodyPr/>
          <a:lstStyle/>
          <a:p>
            <a:r>
              <a:rPr lang="en-US" dirty="0"/>
              <a:t>Editing of User VIA HR</a:t>
            </a:r>
          </a:p>
        </p:txBody>
      </p:sp>
      <p:sp>
        <p:nvSpPr>
          <p:cNvPr id="5" name="Slide Number Placeholder 5">
            <a:extLst>
              <a:ext uri="{FF2B5EF4-FFF2-40B4-BE49-F238E27FC236}">
                <a16:creationId xmlns:a16="http://schemas.microsoft.com/office/drawing/2014/main" id="{9757D9EF-9DC3-5626-E5D8-8B665F411E04}"/>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7</a:t>
            </a:fld>
            <a:endParaRPr lang="en-US" dirty="0"/>
          </a:p>
        </p:txBody>
      </p:sp>
      <p:sp>
        <p:nvSpPr>
          <p:cNvPr id="18" name="TextBox 17">
            <a:extLst>
              <a:ext uri="{FF2B5EF4-FFF2-40B4-BE49-F238E27FC236}">
                <a16:creationId xmlns:a16="http://schemas.microsoft.com/office/drawing/2014/main" id="{AA39AE0D-7FFE-33F2-3D90-FF33A252FEF5}"/>
              </a:ext>
            </a:extLst>
          </p:cNvPr>
          <p:cNvSpPr txBox="1"/>
          <p:nvPr/>
        </p:nvSpPr>
        <p:spPr>
          <a:xfrm>
            <a:off x="125839" y="1612583"/>
            <a:ext cx="4474736" cy="4801314"/>
          </a:xfrm>
          <a:prstGeom prst="rect">
            <a:avLst/>
          </a:prstGeom>
          <a:noFill/>
        </p:spPr>
        <p:txBody>
          <a:bodyPr wrap="square">
            <a:spAutoFit/>
          </a:bodyPr>
          <a:lstStyle/>
          <a:p>
            <a:r>
              <a:rPr lang="en-US" b="1" dirty="0" err="1">
                <a:solidFill>
                  <a:schemeClr val="bg1"/>
                </a:solidFill>
              </a:rPr>
              <a:t>EditUser</a:t>
            </a:r>
            <a:r>
              <a:rPr lang="en-US" b="1" dirty="0">
                <a:solidFill>
                  <a:schemeClr val="bg1"/>
                </a:solidFill>
              </a:rPr>
              <a:t> (GET):</a:t>
            </a:r>
          </a:p>
          <a:p>
            <a:r>
              <a:rPr lang="en-US" dirty="0">
                <a:solidFill>
                  <a:schemeClr val="bg1"/>
                </a:solidFill>
              </a:rPr>
              <a:t>Loads an existing user's data for editing.</a:t>
            </a:r>
          </a:p>
          <a:p>
            <a:pPr marL="285750" indent="-285750">
              <a:buFont typeface="Arial" panose="020B0604020202020204" pitchFamily="34" charset="0"/>
              <a:buChar char="•"/>
            </a:pPr>
            <a:r>
              <a:rPr lang="en-US" dirty="0">
                <a:solidFill>
                  <a:schemeClr val="bg1"/>
                </a:solidFill>
              </a:rPr>
              <a:t>Finds the user in the database</a:t>
            </a:r>
          </a:p>
          <a:p>
            <a:pPr marL="285750" indent="-285750">
              <a:buFont typeface="Arial" panose="020B0604020202020204" pitchFamily="34" charset="0"/>
              <a:buChar char="•"/>
            </a:pPr>
            <a:r>
              <a:rPr lang="en-US" dirty="0">
                <a:solidFill>
                  <a:schemeClr val="bg1"/>
                </a:solidFill>
              </a:rPr>
              <a:t>Maps the data to a </a:t>
            </a:r>
            <a:r>
              <a:rPr lang="en-US" dirty="0" err="1">
                <a:solidFill>
                  <a:schemeClr val="bg1"/>
                </a:solidFill>
              </a:rPr>
              <a:t>ViewModel</a:t>
            </a:r>
            <a:endParaRPr lang="en-US" dirty="0">
              <a:solidFill>
                <a:schemeClr val="bg1"/>
              </a:solidFill>
            </a:endParaRPr>
          </a:p>
          <a:p>
            <a:pPr marL="285750" indent="-285750">
              <a:buFont typeface="Arial" panose="020B0604020202020204" pitchFamily="34" charset="0"/>
              <a:buChar char="•"/>
            </a:pPr>
            <a:r>
              <a:rPr lang="en-US" dirty="0">
                <a:solidFill>
                  <a:schemeClr val="bg1"/>
                </a:solidFill>
              </a:rPr>
              <a:t>Pre-fills the form for HR</a:t>
            </a:r>
          </a:p>
          <a:p>
            <a:endParaRPr lang="en-US" dirty="0">
              <a:solidFill>
                <a:schemeClr val="bg1"/>
              </a:solidFill>
            </a:endParaRPr>
          </a:p>
          <a:p>
            <a:r>
              <a:rPr lang="en-US" b="1" dirty="0" err="1">
                <a:solidFill>
                  <a:schemeClr val="bg1"/>
                </a:solidFill>
              </a:rPr>
              <a:t>EditUser</a:t>
            </a:r>
            <a:r>
              <a:rPr lang="en-US" b="1" dirty="0">
                <a:solidFill>
                  <a:schemeClr val="bg1"/>
                </a:solidFill>
              </a:rPr>
              <a:t> (POST):</a:t>
            </a:r>
          </a:p>
          <a:p>
            <a:r>
              <a:rPr lang="en-US" dirty="0">
                <a:solidFill>
                  <a:schemeClr val="bg1"/>
                </a:solidFill>
              </a:rPr>
              <a:t>Updates a user's profile</a:t>
            </a:r>
          </a:p>
          <a:p>
            <a:pPr marL="285750" indent="-285750">
              <a:buFont typeface="Arial" panose="020B0604020202020204" pitchFamily="34" charset="0"/>
              <a:buChar char="•"/>
            </a:pPr>
            <a:r>
              <a:rPr lang="en-US" dirty="0">
                <a:solidFill>
                  <a:schemeClr val="bg1"/>
                </a:solidFill>
              </a:rPr>
              <a:t>Validates the form</a:t>
            </a:r>
          </a:p>
          <a:p>
            <a:pPr marL="285750" indent="-285750">
              <a:buFont typeface="Arial" panose="020B0604020202020204" pitchFamily="34" charset="0"/>
              <a:buChar char="•"/>
            </a:pPr>
            <a:r>
              <a:rPr lang="en-US" dirty="0">
                <a:solidFill>
                  <a:schemeClr val="bg1"/>
                </a:solidFill>
              </a:rPr>
              <a:t>Checks email uniqueness (avoids duplicates)</a:t>
            </a:r>
          </a:p>
          <a:p>
            <a:pPr marL="285750" indent="-285750">
              <a:buFont typeface="Arial" panose="020B0604020202020204" pitchFamily="34" charset="0"/>
              <a:buChar char="•"/>
            </a:pPr>
            <a:r>
              <a:rPr lang="en-US" dirty="0">
                <a:solidFill>
                  <a:schemeClr val="bg1"/>
                </a:solidFill>
              </a:rPr>
              <a:t>Updates fields: Name, Email, Password, Hourly rate, </a:t>
            </a:r>
            <a:r>
              <a:rPr lang="fr-FR" dirty="0" err="1">
                <a:solidFill>
                  <a:schemeClr val="bg1"/>
                </a:solidFill>
              </a:rPr>
              <a:t>Role</a:t>
            </a:r>
            <a:r>
              <a:rPr lang="fr-FR" dirty="0">
                <a:solidFill>
                  <a:schemeClr val="bg1"/>
                </a:solidFill>
              </a:rPr>
              <a:t> (</a:t>
            </a:r>
            <a:r>
              <a:rPr lang="fr-FR" dirty="0" err="1">
                <a:solidFill>
                  <a:schemeClr val="bg1"/>
                </a:solidFill>
              </a:rPr>
              <a:t>Lecturer</a:t>
            </a:r>
            <a:r>
              <a:rPr lang="fr-FR" dirty="0">
                <a:solidFill>
                  <a:schemeClr val="bg1"/>
                </a:solidFill>
              </a:rPr>
              <a:t>, HR, Manager, etc.)</a:t>
            </a:r>
            <a:r>
              <a:rPr lang="en-US" dirty="0">
                <a:solidFill>
                  <a:schemeClr val="bg1"/>
                </a:solidFill>
              </a:rPr>
              <a:t> &amp; Active/Inactive status</a:t>
            </a:r>
          </a:p>
          <a:p>
            <a:pPr marL="285750" indent="-285750">
              <a:buFont typeface="Arial" panose="020B0604020202020204" pitchFamily="34" charset="0"/>
              <a:buChar char="•"/>
            </a:pPr>
            <a:r>
              <a:rPr lang="en-US" dirty="0">
                <a:solidFill>
                  <a:schemeClr val="bg1"/>
                </a:solidFill>
              </a:rPr>
              <a:t>Saves to database</a:t>
            </a:r>
          </a:p>
          <a:p>
            <a:pPr marL="285750" indent="-285750">
              <a:buFont typeface="Arial" panose="020B0604020202020204" pitchFamily="34" charset="0"/>
              <a:buChar char="•"/>
            </a:pPr>
            <a:r>
              <a:rPr lang="en-US" dirty="0">
                <a:solidFill>
                  <a:schemeClr val="bg1"/>
                </a:solidFill>
              </a:rPr>
              <a:t>Shows success message using </a:t>
            </a:r>
            <a:r>
              <a:rPr lang="en-US" dirty="0" err="1">
                <a:solidFill>
                  <a:schemeClr val="bg1"/>
                </a:solidFill>
              </a:rPr>
              <a:t>TempData</a:t>
            </a:r>
            <a:endParaRPr lang="en-US" dirty="0">
              <a:solidFill>
                <a:schemeClr val="bg1"/>
              </a:solidFill>
            </a:endParaRPr>
          </a:p>
        </p:txBody>
      </p:sp>
      <p:pic>
        <p:nvPicPr>
          <p:cNvPr id="9" name="Picture 8">
            <a:extLst>
              <a:ext uri="{FF2B5EF4-FFF2-40B4-BE49-F238E27FC236}">
                <a16:creationId xmlns:a16="http://schemas.microsoft.com/office/drawing/2014/main" id="{27E53BD0-0417-81E8-E1F3-6470F8BAB55B}"/>
              </a:ext>
            </a:extLst>
          </p:cNvPr>
          <p:cNvPicPr>
            <a:picLocks noChangeAspect="1"/>
          </p:cNvPicPr>
          <p:nvPr/>
        </p:nvPicPr>
        <p:blipFill>
          <a:blip r:embed="rId3"/>
          <a:stretch>
            <a:fillRect/>
          </a:stretch>
        </p:blipFill>
        <p:spPr>
          <a:xfrm>
            <a:off x="4726422" y="172720"/>
            <a:ext cx="6634480" cy="6512560"/>
          </a:xfrm>
          <a:prstGeom prst="rect">
            <a:avLst/>
          </a:prstGeom>
        </p:spPr>
      </p:pic>
    </p:spTree>
    <p:extLst>
      <p:ext uri="{BB962C8B-B14F-4D97-AF65-F5344CB8AC3E}">
        <p14:creationId xmlns:p14="http://schemas.microsoft.com/office/powerpoint/2010/main" val="3561179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97ECA-69FC-6C4D-8426-D0B95C29C3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6399E-3292-C5F6-62AF-F0BE37E8A309}"/>
              </a:ext>
            </a:extLst>
          </p:cNvPr>
          <p:cNvSpPr>
            <a:spLocks noGrp="1"/>
          </p:cNvSpPr>
          <p:nvPr>
            <p:ph type="ctrTitle"/>
          </p:nvPr>
        </p:nvSpPr>
        <p:spPr>
          <a:xfrm>
            <a:off x="6512560" y="782320"/>
            <a:ext cx="4886960" cy="987642"/>
          </a:xfrm>
        </p:spPr>
        <p:txBody>
          <a:bodyPr/>
          <a:lstStyle/>
          <a:p>
            <a:r>
              <a:rPr lang="en-US" sz="2800" dirty="0"/>
              <a:t>Exporting to CSV &amp; Generating PDF VIA HR</a:t>
            </a:r>
          </a:p>
        </p:txBody>
      </p:sp>
      <p:sp>
        <p:nvSpPr>
          <p:cNvPr id="4" name="TextBox 3">
            <a:extLst>
              <a:ext uri="{FF2B5EF4-FFF2-40B4-BE49-F238E27FC236}">
                <a16:creationId xmlns:a16="http://schemas.microsoft.com/office/drawing/2014/main" id="{CA05E2DF-8E2B-A543-E230-82F61B157FA6}"/>
              </a:ext>
            </a:extLst>
          </p:cNvPr>
          <p:cNvSpPr txBox="1"/>
          <p:nvPr/>
        </p:nvSpPr>
        <p:spPr>
          <a:xfrm>
            <a:off x="6374811" y="2143035"/>
            <a:ext cx="4886960" cy="4524315"/>
          </a:xfrm>
          <a:prstGeom prst="rect">
            <a:avLst/>
          </a:prstGeom>
          <a:noFill/>
        </p:spPr>
        <p:txBody>
          <a:bodyPr wrap="square">
            <a:spAutoFit/>
          </a:bodyPr>
          <a:lstStyle/>
          <a:p>
            <a:pPr algn="ctr"/>
            <a:r>
              <a:rPr lang="en-US" dirty="0"/>
              <a:t>Exporting to CSV</a:t>
            </a:r>
          </a:p>
          <a:p>
            <a:r>
              <a:rPr lang="en-US" dirty="0"/>
              <a:t>Steps:</a:t>
            </a:r>
          </a:p>
          <a:p>
            <a:pPr marL="342900" indent="-342900">
              <a:buFont typeface="+mj-lt"/>
              <a:buAutoNum type="arabicPeriod"/>
            </a:pPr>
            <a:r>
              <a:rPr lang="en-US" dirty="0"/>
              <a:t>Gets </a:t>
            </a:r>
            <a:r>
              <a:rPr lang="en-US" b="1" dirty="0"/>
              <a:t>visible rows only</a:t>
            </a:r>
            <a:endParaRPr lang="en-US" dirty="0"/>
          </a:p>
          <a:p>
            <a:pPr marL="342900" indent="-342900">
              <a:buFont typeface="+mj-lt"/>
              <a:buAutoNum type="arabicPeriod"/>
            </a:pPr>
            <a:r>
              <a:rPr lang="en-US" dirty="0"/>
              <a:t>Extracts text from each cell</a:t>
            </a:r>
          </a:p>
          <a:p>
            <a:pPr marL="342900" indent="-342900">
              <a:buFont typeface="+mj-lt"/>
              <a:buAutoNum type="arabicPeriod"/>
            </a:pPr>
            <a:r>
              <a:rPr lang="en-US" dirty="0"/>
              <a:t>Escapes commas and quotes for CSV safety</a:t>
            </a:r>
          </a:p>
          <a:p>
            <a:pPr marL="342900" indent="-342900">
              <a:buFont typeface="+mj-lt"/>
              <a:buAutoNum type="arabicPeriod"/>
            </a:pPr>
            <a:r>
              <a:rPr lang="en-US" dirty="0"/>
              <a:t>Creates a CSV file</a:t>
            </a:r>
          </a:p>
          <a:p>
            <a:pPr marL="342900" indent="-342900">
              <a:buFont typeface="+mj-lt"/>
              <a:buAutoNum type="arabicPeriod"/>
            </a:pPr>
            <a:r>
              <a:rPr lang="en-US" dirty="0"/>
              <a:t>Downloads it automatically</a:t>
            </a:r>
          </a:p>
          <a:p>
            <a:pPr algn="ctr"/>
            <a:r>
              <a:rPr lang="en-US" dirty="0"/>
              <a:t>Generate PDF</a:t>
            </a:r>
          </a:p>
          <a:p>
            <a:pPr algn="ctr"/>
            <a:r>
              <a:rPr lang="en-US" dirty="0"/>
              <a:t>Uses </a:t>
            </a:r>
            <a:r>
              <a:rPr lang="en-US" b="1" dirty="0" err="1"/>
              <a:t>jsPDF</a:t>
            </a:r>
            <a:r>
              <a:rPr lang="en-US" b="1" dirty="0"/>
              <a:t> + </a:t>
            </a:r>
            <a:r>
              <a:rPr lang="en-US" b="1" dirty="0" err="1"/>
              <a:t>AutoTable</a:t>
            </a:r>
            <a:r>
              <a:rPr lang="en-US" dirty="0"/>
              <a:t>:</a:t>
            </a:r>
          </a:p>
          <a:p>
            <a:r>
              <a:rPr lang="en-US" dirty="0"/>
              <a:t>PDF includes:</a:t>
            </a:r>
          </a:p>
          <a:p>
            <a:pPr marL="285750" indent="-285750">
              <a:buFont typeface="Arial" panose="020B0604020202020204" pitchFamily="34" charset="0"/>
              <a:buChar char="•"/>
            </a:pPr>
            <a:r>
              <a:rPr lang="en-US" dirty="0"/>
              <a:t>Title</a:t>
            </a:r>
          </a:p>
          <a:p>
            <a:pPr marL="285750" indent="-285750">
              <a:buFont typeface="Arial" panose="020B0604020202020204" pitchFamily="34" charset="0"/>
              <a:buChar char="•"/>
            </a:pPr>
            <a:r>
              <a:rPr lang="en-US" dirty="0"/>
              <a:t>Date generated</a:t>
            </a:r>
          </a:p>
          <a:p>
            <a:pPr marL="285750" indent="-285750">
              <a:buFont typeface="Arial" panose="020B0604020202020204" pitchFamily="34" charset="0"/>
              <a:buChar char="•"/>
            </a:pPr>
            <a:r>
              <a:rPr lang="en-US" dirty="0"/>
              <a:t>All visible claim rows</a:t>
            </a:r>
          </a:p>
          <a:p>
            <a:r>
              <a:rPr lang="en-US" dirty="0"/>
              <a:t>Downloaded automatically with today’s date.</a:t>
            </a:r>
          </a:p>
          <a:p>
            <a:pPr algn="ctr"/>
            <a:endParaRPr lang="en-US" dirty="0"/>
          </a:p>
          <a:p>
            <a:pPr algn="ctr"/>
            <a:endParaRPr lang="en-US" dirty="0"/>
          </a:p>
        </p:txBody>
      </p:sp>
      <p:pic>
        <p:nvPicPr>
          <p:cNvPr id="6" name="Picture 5">
            <a:extLst>
              <a:ext uri="{FF2B5EF4-FFF2-40B4-BE49-F238E27FC236}">
                <a16:creationId xmlns:a16="http://schemas.microsoft.com/office/drawing/2014/main" id="{9B9A96E3-DE93-907D-01D4-DE557958AE59}"/>
              </a:ext>
            </a:extLst>
          </p:cNvPr>
          <p:cNvPicPr>
            <a:picLocks noChangeAspect="1"/>
          </p:cNvPicPr>
          <p:nvPr/>
        </p:nvPicPr>
        <p:blipFill>
          <a:blip r:embed="rId3"/>
          <a:stretch>
            <a:fillRect/>
          </a:stretch>
        </p:blipFill>
        <p:spPr>
          <a:xfrm>
            <a:off x="716869" y="314960"/>
            <a:ext cx="5516800" cy="6228080"/>
          </a:xfrm>
          <a:prstGeom prst="rect">
            <a:avLst/>
          </a:prstGeom>
        </p:spPr>
      </p:pic>
    </p:spTree>
    <p:extLst>
      <p:ext uri="{BB962C8B-B14F-4D97-AF65-F5344CB8AC3E}">
        <p14:creationId xmlns:p14="http://schemas.microsoft.com/office/powerpoint/2010/main" val="204572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9D304-8BDA-9AD8-4468-F8B16C4AE5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95D7D-4B01-AEFE-29A6-3A6B6C9724CD}"/>
              </a:ext>
            </a:extLst>
          </p:cNvPr>
          <p:cNvSpPr>
            <a:spLocks noGrp="1"/>
          </p:cNvSpPr>
          <p:nvPr>
            <p:ph type="ctrTitle"/>
          </p:nvPr>
        </p:nvSpPr>
        <p:spPr>
          <a:xfrm>
            <a:off x="6512560" y="436880"/>
            <a:ext cx="4886960" cy="987642"/>
          </a:xfrm>
        </p:spPr>
        <p:txBody>
          <a:bodyPr/>
          <a:lstStyle/>
          <a:p>
            <a:r>
              <a:rPr lang="en-US" sz="2800" dirty="0"/>
              <a:t>Hourly Rate &amp; Auto calculation function </a:t>
            </a:r>
          </a:p>
        </p:txBody>
      </p:sp>
      <p:sp>
        <p:nvSpPr>
          <p:cNvPr id="4" name="TextBox 3">
            <a:extLst>
              <a:ext uri="{FF2B5EF4-FFF2-40B4-BE49-F238E27FC236}">
                <a16:creationId xmlns:a16="http://schemas.microsoft.com/office/drawing/2014/main" id="{B54D20E4-6BE0-6168-269F-1E90C7C4B411}"/>
              </a:ext>
            </a:extLst>
          </p:cNvPr>
          <p:cNvSpPr txBox="1"/>
          <p:nvPr/>
        </p:nvSpPr>
        <p:spPr>
          <a:xfrm>
            <a:off x="6374811" y="2143035"/>
            <a:ext cx="4886960" cy="2585323"/>
          </a:xfrm>
          <a:prstGeom prst="rect">
            <a:avLst/>
          </a:prstGeom>
          <a:noFill/>
        </p:spPr>
        <p:txBody>
          <a:bodyPr wrap="square">
            <a:spAutoFit/>
          </a:bodyPr>
          <a:lstStyle/>
          <a:p>
            <a:pPr algn="ctr"/>
            <a:r>
              <a:rPr lang="en-US" dirty="0"/>
              <a:t>The hourly rate comes directly from the User(HR) table in the database.</a:t>
            </a:r>
            <a:br>
              <a:rPr lang="en-US" dirty="0"/>
            </a:br>
            <a:r>
              <a:rPr lang="en-US" dirty="0"/>
              <a:t>Nothing “calculates” it in the controller  it reads whatever rate is stored on the logged in user’s record and injects it into the claim.</a:t>
            </a:r>
          </a:p>
          <a:p>
            <a:pPr algn="ctr"/>
            <a:endParaRPr lang="en-US" dirty="0"/>
          </a:p>
          <a:p>
            <a:pPr algn="ctr"/>
            <a:r>
              <a:rPr lang="en-US" dirty="0"/>
              <a:t>When the hours are input then the auto calculation shows with pulled hourly rate.</a:t>
            </a:r>
          </a:p>
          <a:p>
            <a:pPr algn="ctr"/>
            <a:endParaRPr lang="en-US" dirty="0"/>
          </a:p>
        </p:txBody>
      </p:sp>
      <p:pic>
        <p:nvPicPr>
          <p:cNvPr id="8" name="Picture 7">
            <a:extLst>
              <a:ext uri="{FF2B5EF4-FFF2-40B4-BE49-F238E27FC236}">
                <a16:creationId xmlns:a16="http://schemas.microsoft.com/office/drawing/2014/main" id="{2AD9F76A-7490-C420-76EA-1937D2A4C958}"/>
              </a:ext>
            </a:extLst>
          </p:cNvPr>
          <p:cNvPicPr>
            <a:picLocks noChangeAspect="1"/>
          </p:cNvPicPr>
          <p:nvPr/>
        </p:nvPicPr>
        <p:blipFill>
          <a:blip r:embed="rId3"/>
          <a:stretch>
            <a:fillRect/>
          </a:stretch>
        </p:blipFill>
        <p:spPr>
          <a:xfrm>
            <a:off x="1179814" y="2228091"/>
            <a:ext cx="4772691" cy="1771897"/>
          </a:xfrm>
          <a:prstGeom prst="rect">
            <a:avLst/>
          </a:prstGeom>
        </p:spPr>
      </p:pic>
    </p:spTree>
    <p:extLst>
      <p:ext uri="{BB962C8B-B14F-4D97-AF65-F5344CB8AC3E}">
        <p14:creationId xmlns:p14="http://schemas.microsoft.com/office/powerpoint/2010/main" val="557251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E9B0B-1BD1-E539-DB9E-B1368214E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A0EBC-E2BE-F4A7-BF97-B23B348DDA14}"/>
              </a:ext>
            </a:extLst>
          </p:cNvPr>
          <p:cNvSpPr>
            <a:spLocks noGrp="1"/>
          </p:cNvSpPr>
          <p:nvPr>
            <p:ph type="title"/>
          </p:nvPr>
        </p:nvSpPr>
        <p:spPr>
          <a:xfrm>
            <a:off x="2579371" y="424827"/>
            <a:ext cx="5865386" cy="943928"/>
          </a:xfrm>
        </p:spPr>
        <p:txBody>
          <a:bodyPr/>
          <a:lstStyle/>
          <a:p>
            <a:r>
              <a:rPr lang="en-US" dirty="0"/>
              <a:t>Work Hours Validation</a:t>
            </a:r>
          </a:p>
        </p:txBody>
      </p:sp>
      <p:sp>
        <p:nvSpPr>
          <p:cNvPr id="5" name="Slide Number Placeholder 5">
            <a:extLst>
              <a:ext uri="{FF2B5EF4-FFF2-40B4-BE49-F238E27FC236}">
                <a16:creationId xmlns:a16="http://schemas.microsoft.com/office/drawing/2014/main" id="{A7D77A67-A86E-E6F0-6A0D-7F12C1B1058A}"/>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10</a:t>
            </a:fld>
            <a:endParaRPr lang="en-US" dirty="0"/>
          </a:p>
        </p:txBody>
      </p:sp>
      <p:pic>
        <p:nvPicPr>
          <p:cNvPr id="4" name="Picture 3">
            <a:extLst>
              <a:ext uri="{FF2B5EF4-FFF2-40B4-BE49-F238E27FC236}">
                <a16:creationId xmlns:a16="http://schemas.microsoft.com/office/drawing/2014/main" id="{DF2F4F9D-0CBB-EB74-7AB0-64239D38242F}"/>
              </a:ext>
            </a:extLst>
          </p:cNvPr>
          <p:cNvPicPr>
            <a:picLocks noChangeAspect="1"/>
          </p:cNvPicPr>
          <p:nvPr/>
        </p:nvPicPr>
        <p:blipFill>
          <a:blip r:embed="rId3"/>
          <a:stretch>
            <a:fillRect/>
          </a:stretch>
        </p:blipFill>
        <p:spPr>
          <a:xfrm>
            <a:off x="505978" y="1380498"/>
            <a:ext cx="10012172" cy="1952898"/>
          </a:xfrm>
          <a:prstGeom prst="rect">
            <a:avLst/>
          </a:prstGeom>
        </p:spPr>
      </p:pic>
      <p:sp>
        <p:nvSpPr>
          <p:cNvPr id="7" name="Rectangle 2">
            <a:extLst>
              <a:ext uri="{FF2B5EF4-FFF2-40B4-BE49-F238E27FC236}">
                <a16:creationId xmlns:a16="http://schemas.microsoft.com/office/drawing/2014/main" id="{CE28692D-1498-4B5E-7A09-3B5FF85FAD8F}"/>
              </a:ext>
            </a:extLst>
          </p:cNvPr>
          <p:cNvSpPr>
            <a:spLocks noChangeArrowheads="1"/>
          </p:cNvSpPr>
          <p:nvPr/>
        </p:nvSpPr>
        <p:spPr bwMode="auto">
          <a:xfrm>
            <a:off x="505978" y="3293852"/>
            <a:ext cx="457669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bg1"/>
                </a:solidFill>
                <a:effectLst/>
              </a:rPr>
              <a:t>This code prevents a user from claiming more than 180 hours in a month. It first blocks any single submission over 180 hours. Then it calculates the first day of the current month and sums all hours the user has already claimed for that month. If the new hours plus the existing monthly total exceed 180, it adds a validation error telling the user how many hours they've already claimed and why the new claim would push them past the limit.</a:t>
            </a:r>
          </a:p>
        </p:txBody>
      </p:sp>
    </p:spTree>
    <p:extLst>
      <p:ext uri="{BB962C8B-B14F-4D97-AF65-F5344CB8AC3E}">
        <p14:creationId xmlns:p14="http://schemas.microsoft.com/office/powerpoint/2010/main" val="2350723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FF019-E915-7E48-D6B9-5A11AE7DE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3CF202-1138-6CB1-C384-8446607E31F9}"/>
              </a:ext>
            </a:extLst>
          </p:cNvPr>
          <p:cNvSpPr>
            <a:spLocks noGrp="1"/>
          </p:cNvSpPr>
          <p:nvPr>
            <p:ph type="title"/>
          </p:nvPr>
        </p:nvSpPr>
        <p:spPr>
          <a:xfrm>
            <a:off x="2579371" y="424827"/>
            <a:ext cx="5865386" cy="943928"/>
          </a:xfrm>
        </p:spPr>
        <p:txBody>
          <a:bodyPr/>
          <a:lstStyle/>
          <a:p>
            <a:pPr algn="ctr"/>
            <a:r>
              <a:rPr lang="en-US" dirty="0"/>
              <a:t>EF with a database</a:t>
            </a:r>
          </a:p>
        </p:txBody>
      </p:sp>
      <p:sp>
        <p:nvSpPr>
          <p:cNvPr id="5" name="Slide Number Placeholder 5">
            <a:extLst>
              <a:ext uri="{FF2B5EF4-FFF2-40B4-BE49-F238E27FC236}">
                <a16:creationId xmlns:a16="http://schemas.microsoft.com/office/drawing/2014/main" id="{66F3C3A8-2938-197F-365B-BA33AEDDCBE6}"/>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11</a:t>
            </a:fld>
            <a:endParaRPr lang="en-US" dirty="0"/>
          </a:p>
        </p:txBody>
      </p:sp>
      <p:sp>
        <p:nvSpPr>
          <p:cNvPr id="7" name="Rectangle 2">
            <a:extLst>
              <a:ext uri="{FF2B5EF4-FFF2-40B4-BE49-F238E27FC236}">
                <a16:creationId xmlns:a16="http://schemas.microsoft.com/office/drawing/2014/main" id="{B5B5BA72-F90E-24DC-DDF9-A771046E6D42}"/>
              </a:ext>
            </a:extLst>
          </p:cNvPr>
          <p:cNvSpPr>
            <a:spLocks noChangeArrowheads="1"/>
          </p:cNvSpPr>
          <p:nvPr/>
        </p:nvSpPr>
        <p:spPr bwMode="auto">
          <a:xfrm>
            <a:off x="2579371" y="4580983"/>
            <a:ext cx="457669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bg1"/>
                </a:solidFill>
                <a:effectLst/>
              </a:rPr>
              <a:t>This code </a:t>
            </a:r>
            <a:r>
              <a:rPr lang="en-US" altLang="en-US" dirty="0">
                <a:solidFill>
                  <a:schemeClr val="bg1"/>
                </a:solidFill>
              </a:rPr>
              <a:t>incorporates EF and through out the whole code of the app.</a:t>
            </a:r>
            <a:endParaRPr kumimoji="0" lang="en-US" altLang="en-US" sz="1800" b="0" i="0" u="none" strike="noStrike" cap="none" normalizeH="0" baseline="0" dirty="0">
              <a:ln>
                <a:noFill/>
              </a:ln>
              <a:solidFill>
                <a:schemeClr val="bg1"/>
              </a:solidFill>
              <a:effectLst/>
            </a:endParaRPr>
          </a:p>
        </p:txBody>
      </p:sp>
      <p:pic>
        <p:nvPicPr>
          <p:cNvPr id="6" name="Picture 5">
            <a:extLst>
              <a:ext uri="{FF2B5EF4-FFF2-40B4-BE49-F238E27FC236}">
                <a16:creationId xmlns:a16="http://schemas.microsoft.com/office/drawing/2014/main" id="{737B3121-D9CF-6ADE-9C2A-14568E798F8E}"/>
              </a:ext>
            </a:extLst>
          </p:cNvPr>
          <p:cNvPicPr>
            <a:picLocks noChangeAspect="1"/>
          </p:cNvPicPr>
          <p:nvPr/>
        </p:nvPicPr>
        <p:blipFill>
          <a:blip r:embed="rId3"/>
          <a:stretch>
            <a:fillRect/>
          </a:stretch>
        </p:blipFill>
        <p:spPr>
          <a:xfrm>
            <a:off x="2477928" y="1715264"/>
            <a:ext cx="6068272" cy="2695951"/>
          </a:xfrm>
          <a:prstGeom prst="rect">
            <a:avLst/>
          </a:prstGeom>
        </p:spPr>
      </p:pic>
    </p:spTree>
    <p:extLst>
      <p:ext uri="{BB962C8B-B14F-4D97-AF65-F5344CB8AC3E}">
        <p14:creationId xmlns:p14="http://schemas.microsoft.com/office/powerpoint/2010/main" val="2852054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E9B9D-AED4-8028-2BE5-E618B8AC52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D35FF-A5BB-FC82-5E61-C678CE822D74}"/>
              </a:ext>
            </a:extLst>
          </p:cNvPr>
          <p:cNvSpPr>
            <a:spLocks noGrp="1"/>
          </p:cNvSpPr>
          <p:nvPr>
            <p:ph type="title"/>
          </p:nvPr>
        </p:nvSpPr>
        <p:spPr>
          <a:xfrm>
            <a:off x="2579370" y="424827"/>
            <a:ext cx="7072629" cy="943928"/>
          </a:xfrm>
        </p:spPr>
        <p:txBody>
          <a:bodyPr/>
          <a:lstStyle/>
          <a:p>
            <a:pPr algn="ctr"/>
            <a:r>
              <a:rPr lang="en-US" dirty="0"/>
              <a:t>Lecturer can View and track claims</a:t>
            </a:r>
          </a:p>
        </p:txBody>
      </p:sp>
      <p:sp>
        <p:nvSpPr>
          <p:cNvPr id="5" name="Slide Number Placeholder 5">
            <a:extLst>
              <a:ext uri="{FF2B5EF4-FFF2-40B4-BE49-F238E27FC236}">
                <a16:creationId xmlns:a16="http://schemas.microsoft.com/office/drawing/2014/main" id="{6A8CF483-1EFF-F265-1479-B9121C387620}"/>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12</a:t>
            </a:fld>
            <a:endParaRPr lang="en-US" dirty="0"/>
          </a:p>
        </p:txBody>
      </p:sp>
      <p:pic>
        <p:nvPicPr>
          <p:cNvPr id="4" name="Picture 3">
            <a:extLst>
              <a:ext uri="{FF2B5EF4-FFF2-40B4-BE49-F238E27FC236}">
                <a16:creationId xmlns:a16="http://schemas.microsoft.com/office/drawing/2014/main" id="{73776E22-BB7B-3B20-FDAB-AAD4E06ACC48}"/>
              </a:ext>
            </a:extLst>
          </p:cNvPr>
          <p:cNvPicPr>
            <a:picLocks noChangeAspect="1"/>
          </p:cNvPicPr>
          <p:nvPr/>
        </p:nvPicPr>
        <p:blipFill>
          <a:blip r:embed="rId3"/>
          <a:stretch>
            <a:fillRect/>
          </a:stretch>
        </p:blipFill>
        <p:spPr>
          <a:xfrm>
            <a:off x="5511118" y="1538876"/>
            <a:ext cx="4515480" cy="4256408"/>
          </a:xfrm>
          <a:prstGeom prst="rect">
            <a:avLst/>
          </a:prstGeom>
        </p:spPr>
      </p:pic>
      <p:sp>
        <p:nvSpPr>
          <p:cNvPr id="8" name="Rectangle 1">
            <a:extLst>
              <a:ext uri="{FF2B5EF4-FFF2-40B4-BE49-F238E27FC236}">
                <a16:creationId xmlns:a16="http://schemas.microsoft.com/office/drawing/2014/main" id="{2B7EC91F-861F-9026-327D-7D4F3C32C354}"/>
              </a:ext>
            </a:extLst>
          </p:cNvPr>
          <p:cNvSpPr>
            <a:spLocks noChangeArrowheads="1"/>
          </p:cNvSpPr>
          <p:nvPr/>
        </p:nvSpPr>
        <p:spPr bwMode="auto">
          <a:xfrm>
            <a:off x="361508" y="1795269"/>
            <a:ext cx="459326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bg1"/>
                </a:solidFill>
                <a:effectLst/>
              </a:rPr>
              <a:t>These two actions let a logged-in user view their claims. </a:t>
            </a:r>
            <a:r>
              <a:rPr kumimoji="0" lang="en-US" altLang="en-US" sz="1800" b="1" i="0" u="none" strike="noStrike" cap="none" normalizeH="0" baseline="0" dirty="0" err="1">
                <a:ln>
                  <a:noFill/>
                </a:ln>
                <a:solidFill>
                  <a:schemeClr val="bg1"/>
                </a:solidFill>
                <a:effectLst/>
              </a:rPr>
              <a:t>ViewClaim</a:t>
            </a:r>
            <a:r>
              <a:rPr kumimoji="0" lang="en-US" altLang="en-US" sz="1800" b="0" i="0" u="none" strike="noStrike" cap="none" normalizeH="0" baseline="0" dirty="0">
                <a:ln>
                  <a:noFill/>
                </a:ln>
                <a:solidFill>
                  <a:schemeClr val="bg1"/>
                </a:solidFill>
                <a:effectLst/>
              </a:rPr>
              <a:t> checks the session for a user, loads one specific claim (matching the claim ID </a:t>
            </a:r>
            <a:r>
              <a:rPr kumimoji="0" lang="en-US" altLang="en-US" sz="1800" b="0" i="1" u="none" strike="noStrike" cap="none" normalizeH="0" baseline="0" dirty="0">
                <a:ln>
                  <a:noFill/>
                </a:ln>
                <a:solidFill>
                  <a:schemeClr val="bg1"/>
                </a:solidFill>
                <a:effectLst/>
              </a:rPr>
              <a:t>and</a:t>
            </a:r>
            <a:r>
              <a:rPr kumimoji="0" lang="en-US" altLang="en-US" sz="1800" b="0" i="0" u="none" strike="noStrike" cap="none" normalizeH="0" baseline="0" dirty="0">
                <a:ln>
                  <a:noFill/>
                </a:ln>
                <a:solidFill>
                  <a:schemeClr val="bg1"/>
                </a:solidFill>
                <a:effectLst/>
              </a:rPr>
              <a:t> the logged-in user), includes related items, documents, and user details, and returns it to the view. If the claim doesn’t exist, it returns </a:t>
            </a:r>
            <a:r>
              <a:rPr kumimoji="0" lang="en-US" altLang="en-US" sz="1800" b="0" i="1" u="none" strike="noStrike" cap="none" normalizeH="0" baseline="0" dirty="0" err="1">
                <a:ln>
                  <a:noFill/>
                </a:ln>
                <a:solidFill>
                  <a:schemeClr val="bg1"/>
                </a:solidFill>
                <a:effectLst/>
              </a:rPr>
              <a:t>NotFound</a:t>
            </a:r>
            <a:r>
              <a:rPr kumimoji="0" lang="en-US" altLang="en-US" sz="1800" b="0" i="0" u="none" strike="noStrike" cap="none" normalizeH="0" baseline="0" dirty="0">
                <a:ln>
                  <a:noFill/>
                </a:ln>
                <a:solidFill>
                  <a:schemeClr val="bg1"/>
                </a:solidFill>
                <a:effectLst/>
              </a:rPr>
              <a:t>. </a:t>
            </a:r>
            <a:r>
              <a:rPr kumimoji="0" lang="en-US" altLang="en-US" sz="1800" b="1" i="0" u="none" strike="noStrike" cap="none" normalizeH="0" baseline="0" dirty="0" err="1">
                <a:ln>
                  <a:noFill/>
                </a:ln>
                <a:solidFill>
                  <a:schemeClr val="bg1"/>
                </a:solidFill>
                <a:effectLst/>
              </a:rPr>
              <a:t>TrackClaims</a:t>
            </a:r>
            <a:r>
              <a:rPr kumimoji="0" lang="en-US" altLang="en-US" sz="1800" b="0" i="0" u="none" strike="noStrike" cap="none" normalizeH="0" baseline="0" dirty="0">
                <a:ln>
                  <a:noFill/>
                </a:ln>
                <a:solidFill>
                  <a:schemeClr val="bg1"/>
                </a:solidFill>
                <a:effectLst/>
              </a:rPr>
              <a:t> loads </a:t>
            </a:r>
            <a:r>
              <a:rPr kumimoji="0" lang="en-US" altLang="en-US" sz="1800" b="1" i="0" u="none" strike="noStrike" cap="none" normalizeH="0" baseline="0" dirty="0">
                <a:ln>
                  <a:noFill/>
                </a:ln>
                <a:solidFill>
                  <a:schemeClr val="bg1"/>
                </a:solidFill>
                <a:effectLst/>
              </a:rPr>
              <a:t>all</a:t>
            </a:r>
            <a:r>
              <a:rPr kumimoji="0" lang="en-US" altLang="en-US" sz="1800" b="0" i="0" u="none" strike="noStrike" cap="none" normalizeH="0" baseline="0" dirty="0">
                <a:ln>
                  <a:noFill/>
                </a:ln>
                <a:solidFill>
                  <a:schemeClr val="bg1"/>
                </a:solidFill>
                <a:effectLst/>
              </a:rPr>
              <a:t> claims that belong to the logged-in user, includes claim items, sorts them by newest first, and displays them. Both actions block access if the user isn’t logged in.</a:t>
            </a:r>
          </a:p>
        </p:txBody>
      </p:sp>
    </p:spTree>
    <p:extLst>
      <p:ext uri="{BB962C8B-B14F-4D97-AF65-F5344CB8AC3E}">
        <p14:creationId xmlns:p14="http://schemas.microsoft.com/office/powerpoint/2010/main" val="277135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1EDE-5423-435C-B149-87AB1BC22B83}"/>
              </a:ext>
            </a:extLst>
          </p:cNvPr>
          <p:cNvSpPr>
            <a:spLocks noGrp="1"/>
          </p:cNvSpPr>
          <p:nvPr>
            <p:ph type="ctrTitle"/>
          </p:nvPr>
        </p:nvSpPr>
        <p:spPr>
          <a:xfrm>
            <a:off x="4267200" y="1615736"/>
            <a:ext cx="4179570" cy="1524735"/>
          </a:xfrm>
        </p:spPr>
        <p:txBody>
          <a:bodyPr/>
          <a:lstStyle/>
          <a:p>
            <a:r>
              <a:rPr lang="en-US" dirty="0"/>
              <a:t>THANK YOU</a:t>
            </a:r>
          </a:p>
        </p:txBody>
      </p:sp>
      <p:sp>
        <p:nvSpPr>
          <p:cNvPr id="3" name="Subtitle 2">
            <a:extLst>
              <a:ext uri="{FF2B5EF4-FFF2-40B4-BE49-F238E27FC236}">
                <a16:creationId xmlns:a16="http://schemas.microsoft.com/office/drawing/2014/main" id="{AF64C29E-DF30-4DC6-AB95-2016F9A703B6}"/>
              </a:ext>
            </a:extLst>
          </p:cNvPr>
          <p:cNvSpPr>
            <a:spLocks noGrp="1"/>
          </p:cNvSpPr>
          <p:nvPr>
            <p:ph type="subTitle" idx="1"/>
          </p:nvPr>
        </p:nvSpPr>
        <p:spPr>
          <a:xfrm>
            <a:off x="4267200" y="3238103"/>
            <a:ext cx="4179570" cy="2850181"/>
          </a:xfrm>
        </p:spPr>
        <p:txBody>
          <a:bodyPr>
            <a:noAutofit/>
          </a:bodyPr>
          <a:lstStyle/>
          <a:p>
            <a:r>
              <a:rPr lang="en-US" dirty="0"/>
              <a:t>Tapiwa Sango</a:t>
            </a:r>
          </a:p>
          <a:p>
            <a:r>
              <a:rPr lang="en-US" dirty="0"/>
              <a:t>ST10276025</a:t>
            </a:r>
          </a:p>
          <a:p>
            <a:r>
              <a:rPr lang="en-US" dirty="0"/>
              <a:t>PROG6212</a:t>
            </a:r>
          </a:p>
          <a:p>
            <a:r>
              <a:rPr lang="en-US" dirty="0"/>
              <a:t>POE Part 3</a:t>
            </a:r>
          </a:p>
        </p:txBody>
      </p:sp>
      <p:sp>
        <p:nvSpPr>
          <p:cNvPr id="6" name="Slide Number Placeholder 5">
            <a:extLst>
              <a:ext uri="{FF2B5EF4-FFF2-40B4-BE49-F238E27FC236}">
                <a16:creationId xmlns:a16="http://schemas.microsoft.com/office/drawing/2014/main" id="{4C127D99-645F-4FCF-9573-FDFE2A344FA9}"/>
              </a:ext>
            </a:extLst>
          </p:cNvPr>
          <p:cNvSpPr>
            <a:spLocks noGrp="1"/>
          </p:cNvSpPr>
          <p:nvPr>
            <p:ph type="sldNum" sz="quarter" idx="12"/>
          </p:nvPr>
        </p:nvSpPr>
        <p:spPr>
          <a:xfrm>
            <a:off x="9579428" y="6356350"/>
            <a:ext cx="1774371" cy="365125"/>
          </a:xfrm>
        </p:spPr>
        <p:txBody>
          <a:bodyPr/>
          <a:lstStyle/>
          <a:p>
            <a:fld id="{A49DFD55-3C28-40EF-9E31-A92D2E4017FF}" type="slidenum">
              <a:rPr lang="en-US" smtClean="0"/>
              <a:pPr/>
              <a:t>13</a:t>
            </a:fld>
            <a:endParaRPr lang="en-US" dirty="0"/>
          </a:p>
        </p:txBody>
      </p:sp>
    </p:spTree>
    <p:extLst>
      <p:ext uri="{BB962C8B-B14F-4D97-AF65-F5344CB8AC3E}">
        <p14:creationId xmlns:p14="http://schemas.microsoft.com/office/powerpoint/2010/main" val="1969787568"/>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ABF691C-888B-4061-8A6F-D5CE84A0254B}">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{C9FD357D-7792-40DF-86F7-8AC3486D4E84}TF7521aafa-c748-4c40-a498-ba511be234dc5b1b6097_win32-5039330bb2f3</Template>
  <TotalTime>1168</TotalTime>
  <Words>680</Words>
  <Application>Microsoft Office PowerPoint</Application>
  <PresentationFormat>Widescreen</PresentationFormat>
  <Paragraphs>90</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Tenorite</vt:lpstr>
      <vt:lpstr>Custom</vt:lpstr>
      <vt:lpstr>PROG6212 POE PART3 Tapiwa Sango ST10276025</vt:lpstr>
      <vt:lpstr>Lecturer Feedback</vt:lpstr>
      <vt:lpstr>Manager Functionality for Rejecting and approving Claims</vt:lpstr>
      <vt:lpstr>Coordinator Functionality for Rejecting and approving Claims</vt:lpstr>
      <vt:lpstr>Part 3 Additions</vt:lpstr>
      <vt:lpstr>Creation of User VIA HR</vt:lpstr>
      <vt:lpstr>Editing of User VIA HR</vt:lpstr>
      <vt:lpstr>Exporting to CSV &amp; Generating PDF VIA HR</vt:lpstr>
      <vt:lpstr>Hourly Rate &amp; Auto calculation function </vt:lpstr>
      <vt:lpstr>Work Hours Validation</vt:lpstr>
      <vt:lpstr>EF with a database</vt:lpstr>
      <vt:lpstr>Lecturer can View and track claims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Tapiwa Dylan Sango</dc:creator>
  <cp:lastModifiedBy>Tapiwa Dylan Sango</cp:lastModifiedBy>
  <cp:revision>2</cp:revision>
  <dcterms:created xsi:type="dcterms:W3CDTF">2025-11-18T12:29:09Z</dcterms:created>
  <dcterms:modified xsi:type="dcterms:W3CDTF">2025-11-19T07:57:30Z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